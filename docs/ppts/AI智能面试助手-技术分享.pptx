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C9DFF0"/>
                </a:solidFill>
                <a:latin typeface="Microsoft YaHei"/>
                <a:ea typeface="Microsoft YaHei"/>
              </a:rPr>
              <a:t>AI 智能面试助手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916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8FB0D4"/>
                </a:solidFill>
                <a:latin typeface="Microsoft YaHei"/>
                <a:ea typeface="Microsoft YaHei"/>
              </a:rPr>
              <a:t>从需求到落地的完整工程实践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38912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4FC3F7"/>
                </a:solidFill>
                <a:latin typeface="Consolas"/>
                <a:ea typeface="Consola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12064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8FB0D4"/>
                </a:solidFill>
                <a:latin typeface="Microsoft YaHei"/>
                <a:ea typeface="Microsoft YaHei"/>
              </a:rPr>
              <a:t>后端模块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438912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4FC3F7"/>
                </a:solidFill>
                <a:latin typeface="Consolas"/>
                <a:ea typeface="Consola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512064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8FB0D4"/>
                </a:solidFill>
                <a:latin typeface="Microsoft YaHei"/>
                <a:ea typeface="Microsoft YaHei"/>
              </a:rPr>
              <a:t>前端页面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38912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4FC3F7"/>
                </a:solidFill>
                <a:latin typeface="Consolas"/>
                <a:ea typeface="Consolas"/>
              </a:rPr>
              <a:t>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512064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8FB0D4"/>
                </a:solidFill>
                <a:latin typeface="Microsoft YaHei"/>
                <a:ea typeface="Microsoft YaHei"/>
              </a:rPr>
              <a:t>测试用例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438912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B74D"/>
                </a:solidFill>
                <a:latin typeface="Consolas"/>
                <a:ea typeface="Consolas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512064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8FB0D4"/>
                </a:solidFill>
                <a:latin typeface="Microsoft YaHei"/>
                <a:ea typeface="Microsoft YaHei"/>
              </a:rPr>
              <a:t>API 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FB0D4"/>
                </a:solidFill>
                <a:latin typeface="Microsoft YaHei"/>
                <a:ea typeface="Microsoft YaHei"/>
              </a:rPr>
              <a:t>AI 智能面试助手 · 技术分享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C9DFF0"/>
                </a:solidFill>
                <a:latin typeface="Microsoft YaHei"/>
                <a:ea typeface="Microsoft YaHei"/>
              </a:rPr>
              <a:t>内容总览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5240"/>
          </a:xfrm>
          <a:prstGeom prst="rect">
            <a:avLst/>
          </a:prstGeom>
          <a:solidFill>
            <a:srgbClr val="2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4FC3F7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82880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D6E4F5"/>
                </a:solidFill>
                <a:latin typeface="Microsoft YaHei"/>
                <a:ea typeface="Microsoft YaHei"/>
              </a:rPr>
              <a:t>项目概述与背景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3317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FB0D4"/>
                </a:solidFill>
                <a:latin typeface="Microsoft YaHei"/>
                <a:ea typeface="Microsoft YaHei"/>
              </a:rPr>
              <a:t>为什么做 · 核心价值 · 产品定位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4FC3F7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74320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D6E4F5"/>
                </a:solidFill>
                <a:latin typeface="Microsoft YaHei"/>
                <a:ea typeface="Microsoft YaHei"/>
              </a:rPr>
              <a:t>业务流程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2461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FB0D4"/>
                </a:solidFill>
                <a:latin typeface="Microsoft YaHei"/>
                <a:ea typeface="Microsoft YaHei"/>
              </a:rPr>
              <a:t>完整闭环 · 会话状态机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4FC3F7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65760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D6E4F5"/>
                </a:solidFill>
                <a:latin typeface="Microsoft YaHei"/>
                <a:ea typeface="Microsoft YaHei"/>
              </a:rPr>
              <a:t>项目技术栈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41605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FB0D4"/>
                </a:solidFill>
                <a:latin typeface="Microsoft YaHei"/>
                <a:ea typeface="Microsoft YaHei"/>
              </a:rPr>
              <a:t>后端 · 前端 · 数据库 · 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72000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4FC3F7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57200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D6E4F5"/>
                </a:solidFill>
                <a:latin typeface="Microsoft YaHei"/>
                <a:ea typeface="Microsoft YaHei"/>
              </a:rPr>
              <a:t>核心模块技术讲解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50749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FB0D4"/>
                </a:solidFill>
                <a:latin typeface="Microsoft YaHei"/>
                <a:ea typeface="Microsoft YaHei"/>
              </a:rPr>
              <a:t>架构分层 · engine · interviews · reports ·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86400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B74D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548640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D6E4F5"/>
                </a:solidFill>
                <a:latin typeface="Microsoft YaHei"/>
                <a:ea typeface="Microsoft YaHei"/>
              </a:rPr>
              <a:t>收获与展望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59893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FB0D4"/>
                </a:solidFill>
                <a:latin typeface="Microsoft YaHei"/>
                <a:ea typeface="Microsoft YaHei"/>
              </a:rPr>
              <a:t>遇到的问题 · 工程沉淀 · 下一步演进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C9DFF0"/>
                </a:solidFill>
                <a:latin typeface="Microsoft YaHei"/>
                <a:ea typeface="Microsoft YaHei"/>
              </a:rPr>
              <a:t>项目概述：为什么做 AI 面试陪练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5240"/>
          </a:xfrm>
          <a:prstGeom prst="rect">
            <a:avLst/>
          </a:prstGeom>
          <a:solidFill>
            <a:srgbClr val="2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502920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8FB0D4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solidFill>
            <a:srgbClr val="0B1F33"/>
          </a:solidFill>
          <a:ln w="1905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FC3F7"/>
                </a:solidFill>
                <a:latin typeface="Consolas"/>
                <a:ea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91639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D6E4F5"/>
                </a:solidFill>
                <a:latin typeface="Microsoft YaHei"/>
                <a:ea typeface="Microsoft YaHei"/>
              </a:rPr>
              <a:t>背景：练习成本高、缺反馈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19456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FB0D4"/>
                </a:solidFill>
                <a:latin typeface="Microsoft YaHei"/>
                <a:ea typeface="Microsoft YaHei"/>
              </a:rPr>
              <a:t>求职者面试前缺乏充分练习：没有合适的面试官、缺少针对性反馈、练习成本高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08960"/>
            <a:ext cx="640080" cy="640080"/>
          </a:xfrm>
          <a:prstGeom prst="rect">
            <a:avLst/>
          </a:prstGeom>
          <a:solidFill>
            <a:srgbClr val="0B1F33"/>
          </a:solidFill>
          <a:ln w="1905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FC3F7"/>
                </a:solidFill>
                <a:latin typeface="Consolas"/>
                <a:ea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06324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D6E4F5"/>
                </a:solidFill>
                <a:latin typeface="Microsoft YaHei"/>
                <a:ea typeface="Microsoft YaHei"/>
              </a:rPr>
              <a:t>定位：面向求职者的 AI 面试陪练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56616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FB0D4"/>
                </a:solidFill>
                <a:latin typeface="Microsoft YaHei"/>
                <a:ea typeface="Microsoft YaHei"/>
              </a:rPr>
              <a:t>PC 端 Web 应用，由 AI 扮演面试官，通过文字对话完成一次结构化模拟面试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480560"/>
            <a:ext cx="640080" cy="640080"/>
          </a:xfrm>
          <a:prstGeom prst="rect">
            <a:avLst/>
          </a:prstGeom>
          <a:solidFill>
            <a:srgbClr val="0B1F33"/>
          </a:solidFill>
          <a:ln w="1905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B74D"/>
                </a:solidFill>
                <a:latin typeface="Consolas"/>
                <a:ea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43484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D6E4F5"/>
                </a:solidFill>
                <a:latin typeface="Microsoft YaHei"/>
                <a:ea typeface="Microsoft YaHei"/>
              </a:rPr>
              <a:t>目标用户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93776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FB0D4"/>
                </a:solidFill>
                <a:latin typeface="Microsoft YaHei"/>
                <a:ea typeface="Microsoft YaHei"/>
              </a:rPr>
              <a:t>正在准备求职面试的求职者（校招 / 社招），以及希望提升面试表达的人群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C9DFF0"/>
                </a:solidFill>
                <a:latin typeface="Microsoft YaHei"/>
                <a:ea typeface="Microsoft YaHei"/>
              </a:rPr>
              <a:t>核心价值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5240"/>
          </a:xfrm>
          <a:prstGeom prst="rect">
            <a:avLst/>
          </a:prstGeom>
          <a:solidFill>
            <a:srgbClr val="2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502920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8FB0D4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3200400" cy="3657600"/>
          </a:xfrm>
          <a:prstGeom prst="rect">
            <a:avLst/>
          </a:prstGeom>
          <a:solidFill>
            <a:srgbClr val="11294A"/>
          </a:solidFill>
          <a:ln w="12700">
            <a:solidFill>
              <a:srgbClr val="C9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FC3F7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D6E4F5"/>
                </a:solidFill>
                <a:latin typeface="Microsoft YaHei"/>
                <a:ea typeface="Microsoft YaHei"/>
              </a:rPr>
              <a:t>零成本随时随练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FB0D4"/>
                </a:solidFill>
                <a:latin typeface="Microsoft YaHei"/>
                <a:ea typeface="Microsoft YaHei"/>
              </a:rPr>
              <a:t>无需真人面试官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77639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FB0D4"/>
                </a:solidFill>
                <a:latin typeface="Microsoft YaHei"/>
                <a:ea typeface="Microsoft YaHei"/>
              </a:rPr>
              <a:t>打开浏览器即可练习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FB0D4"/>
                </a:solidFill>
                <a:latin typeface="Microsoft YaHei"/>
                <a:ea typeface="Microsoft YaHei"/>
              </a:rPr>
              <a:t>随时随地开始模拟面试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828800"/>
            <a:ext cx="3200400" cy="3657600"/>
          </a:xfrm>
          <a:prstGeom prst="rect">
            <a:avLst/>
          </a:prstGeom>
          <a:solidFill>
            <a:srgbClr val="11294A"/>
          </a:solidFill>
          <a:ln w="12700">
            <a:solidFill>
              <a:srgbClr val="C9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01168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FC3F7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5176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D6E4F5"/>
                </a:solidFill>
                <a:latin typeface="Microsoft YaHei"/>
                <a:ea typeface="Microsoft YaHei"/>
              </a:rPr>
              <a:t>结构化流程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4747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FB0D4"/>
                </a:solidFill>
                <a:latin typeface="Microsoft YaHei"/>
                <a:ea typeface="Microsoft YaHei"/>
              </a:rPr>
              <a:t>按岗位方向 / 题型 / 轮数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977639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FB0D4"/>
                </a:solidFill>
                <a:latin typeface="Microsoft YaHei"/>
                <a:ea typeface="Microsoft YaHei"/>
              </a:rPr>
              <a:t>定制面试配置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4805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FB0D4"/>
                </a:solidFill>
                <a:latin typeface="Microsoft YaHei"/>
                <a:ea typeface="Microsoft YaHei"/>
              </a:rPr>
              <a:t>贴近真实面试节奏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828800"/>
            <a:ext cx="3200400" cy="3657600"/>
          </a:xfrm>
          <a:prstGeom prst="rect">
            <a:avLst/>
          </a:prstGeom>
          <a:solidFill>
            <a:srgbClr val="11294A"/>
          </a:solidFill>
          <a:ln w="12700">
            <a:solidFill>
              <a:srgbClr val="C9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01168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B74D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65176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D6E4F5"/>
                </a:solidFill>
                <a:latin typeface="Microsoft YaHei"/>
                <a:ea typeface="Microsoft YaHei"/>
              </a:rPr>
              <a:t>针对性反馈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4747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FB0D4"/>
                </a:solidFill>
                <a:latin typeface="Microsoft YaHei"/>
                <a:ea typeface="Microsoft YaHei"/>
              </a:rPr>
              <a:t>每题即时文字点评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977639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FB0D4"/>
                </a:solidFill>
                <a:latin typeface="Microsoft YaHei"/>
                <a:ea typeface="Microsoft YaHei"/>
              </a:rPr>
              <a:t>整体评价与改进建议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4805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8FB0D4"/>
                </a:solidFill>
                <a:latin typeface="Microsoft YaHei"/>
                <a:ea typeface="Microsoft YaHei"/>
              </a:rPr>
              <a:t>发现自身薄弱环节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C9DFF0"/>
                </a:solidFill>
                <a:latin typeface="Microsoft YaHei"/>
                <a:ea typeface="Microsoft YaHei"/>
              </a:rPr>
              <a:t>业务流程总览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5240"/>
          </a:xfrm>
          <a:prstGeom prst="rect">
            <a:avLst/>
          </a:prstGeom>
          <a:solidFill>
            <a:srgbClr val="2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502920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8FB0D4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2286000" cy="2011680"/>
          </a:xfrm>
          <a:prstGeom prst="rect">
            <a:avLst/>
          </a:prstGeom>
          <a:solidFill>
            <a:srgbClr val="11294A"/>
          </a:solidFill>
          <a:ln w="1905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FC3F7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D6E4F5"/>
                </a:solidFill>
                <a:latin typeface="Microsoft YaHei"/>
                <a:ea typeface="Microsoft YaHei"/>
              </a:rPr>
              <a:t>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8328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FB0D4"/>
                </a:solidFill>
                <a:latin typeface="Microsoft YaHei"/>
                <a:ea typeface="Microsoft YaHei"/>
              </a:rPr>
              <a:t>选预设模板或自定义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4048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FB0D4"/>
                </a:solidFill>
                <a:latin typeface="Microsoft YaHei"/>
                <a:ea typeface="Microsoft YaHei"/>
              </a:rPr>
              <a:t>岗位方向 · 题型 · 数量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54679" y="2743200"/>
            <a:ext cx="502920" cy="411480"/>
          </a:xfrm>
          <a:prstGeom prst="rightArrow">
            <a:avLst/>
          </a:prstGeom>
          <a:solidFill>
            <a:srgbClr val="C9D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40" y="2011680"/>
            <a:ext cx="2286000" cy="2011680"/>
          </a:xfrm>
          <a:prstGeom prst="rect">
            <a:avLst/>
          </a:prstGeom>
          <a:solidFill>
            <a:srgbClr val="11294A"/>
          </a:solidFill>
          <a:ln w="12700">
            <a:solidFill>
              <a:srgbClr val="C9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40" y="219456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FC3F7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274320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D6E4F5"/>
                </a:solidFill>
                <a:latin typeface="Microsoft YaHei"/>
                <a:ea typeface="Microsoft YaHei"/>
              </a:rPr>
              <a:t>面试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338328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FB0D4"/>
                </a:solidFill>
                <a:latin typeface="Microsoft YaHei"/>
                <a:ea typeface="Microsoft YaHei"/>
              </a:rPr>
              <a:t>AI 逐题提问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384048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FB0D4"/>
                </a:solidFill>
                <a:latin typeface="Microsoft YaHei"/>
                <a:ea typeface="Microsoft YaHei"/>
              </a:rPr>
              <a:t>用户文字作答 · 即时点评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80760" y="2743200"/>
            <a:ext cx="502920" cy="411480"/>
          </a:xfrm>
          <a:prstGeom prst="rightArrow">
            <a:avLst/>
          </a:prstGeom>
          <a:solidFill>
            <a:srgbClr val="C9D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2011680"/>
            <a:ext cx="2286000" cy="2011680"/>
          </a:xfrm>
          <a:prstGeom prst="rect">
            <a:avLst/>
          </a:prstGeom>
          <a:solidFill>
            <a:srgbClr val="11294A"/>
          </a:solidFill>
          <a:ln w="12700">
            <a:solidFill>
              <a:srgbClr val="C9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219456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FC3F7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74320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D6E4F5"/>
                </a:solidFill>
                <a:latin typeface="Microsoft YaHei"/>
                <a:ea typeface="Microsoft YaHei"/>
              </a:rPr>
              <a:t>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38328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FB0D4"/>
                </a:solidFill>
                <a:latin typeface="Microsoft YaHei"/>
                <a:ea typeface="Microsoft YaHei"/>
              </a:rPr>
              <a:t>总体评价 · 改进建议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84048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FB0D4"/>
                </a:solidFill>
                <a:latin typeface="Microsoft YaHei"/>
                <a:ea typeface="Microsoft YaHei"/>
              </a:rPr>
              <a:t>逐题点评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006840" y="2743200"/>
            <a:ext cx="502920" cy="411480"/>
          </a:xfrm>
          <a:prstGeom prst="rightArrow">
            <a:avLst/>
          </a:prstGeom>
          <a:solidFill>
            <a:srgbClr val="C9D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0" y="2011680"/>
            <a:ext cx="2286000" cy="2011680"/>
          </a:xfrm>
          <a:prstGeom prst="rect">
            <a:avLst/>
          </a:prstGeom>
          <a:solidFill>
            <a:srgbClr val="11294A"/>
          </a:solidFill>
          <a:ln w="12700">
            <a:solidFill>
              <a:srgbClr val="C9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219456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B74D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74320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D6E4F5"/>
                </a:solidFill>
                <a:latin typeface="Microsoft YaHei"/>
                <a:ea typeface="Microsoft YaHei"/>
              </a:rPr>
              <a:t>历史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338328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FB0D4"/>
                </a:solidFill>
                <a:latin typeface="Microsoft YaHei"/>
                <a:ea typeface="Microsoft YaHei"/>
              </a:rPr>
              <a:t>按用户隔离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840480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FB0D4"/>
                </a:solidFill>
                <a:latin typeface="Microsoft YaHei"/>
                <a:ea typeface="Microsoft YaHei"/>
              </a:rPr>
              <a:t>回看评估报告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4754880"/>
            <a:ext cx="9966960" cy="822960"/>
          </a:xfrm>
          <a:prstGeom prst="rect">
            <a:avLst/>
          </a:prstGeom>
          <a:solidFill>
            <a:srgbClr val="11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98348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9DFF0"/>
                </a:solidFill>
                <a:latin typeface="Microsoft YaHei"/>
                <a:ea typeface="Microsoft YaHei"/>
              </a:rPr>
              <a:t>用户经历「配置 → 面试 → 报告 → 历史回顾」四阶段，构成完整练习闭环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C9DFF0"/>
                </a:solidFill>
                <a:latin typeface="Microsoft YaHei"/>
                <a:ea typeface="Microsoft YaHei"/>
              </a:rPr>
              <a:t>面试会话状态机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5240"/>
          </a:xfrm>
          <a:prstGeom prst="rect">
            <a:avLst/>
          </a:prstGeom>
          <a:solidFill>
            <a:srgbClr val="2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502920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8FB0D4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377440"/>
            <a:ext cx="2926080" cy="1097280"/>
          </a:xfrm>
          <a:prstGeom prst="rect">
            <a:avLst/>
          </a:prstGeom>
          <a:solidFill>
            <a:srgbClr val="11294A"/>
          </a:solidFill>
          <a:ln w="2540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FC3F7"/>
                </a:solidFill>
                <a:latin typeface="Consolas"/>
                <a:ea typeface="Consolas"/>
              </a:rPr>
              <a:t>in_progress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FB0D4"/>
                </a:solidFill>
                <a:latin typeface="Microsoft YaHei"/>
                <a:ea typeface="Microsoft YaHei"/>
              </a:rPr>
              <a:t>进行中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737360"/>
            <a:ext cx="2926080" cy="1097280"/>
          </a:xfrm>
          <a:prstGeom prst="rect">
            <a:avLst/>
          </a:prstGeom>
          <a:solidFill>
            <a:srgbClr val="11294A"/>
          </a:solidFill>
          <a:ln w="12700">
            <a:solidFill>
              <a:srgbClr val="C9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9202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6E4F5"/>
                </a:solidFill>
                <a:latin typeface="Consolas"/>
                <a:ea typeface="Consolas"/>
              </a:rPr>
              <a:t>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3774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FB0D4"/>
                </a:solidFill>
                <a:latin typeface="Microsoft YaHei"/>
                <a:ea typeface="Microsoft YaHei"/>
              </a:rPr>
              <a:t>已完成（终态）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4206240"/>
            <a:ext cx="2926080" cy="1097280"/>
          </a:xfrm>
          <a:prstGeom prst="rect">
            <a:avLst/>
          </a:prstGeom>
          <a:solidFill>
            <a:srgbClr val="11294A"/>
          </a:solidFill>
          <a:ln w="12700">
            <a:solidFill>
              <a:srgbClr val="C9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43891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6E4F5"/>
                </a:solidFill>
                <a:latin typeface="Consolas"/>
                <a:ea typeface="Consolas"/>
              </a:rPr>
              <a:t>finished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8463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FB0D4"/>
                </a:solidFill>
                <a:latin typeface="Microsoft YaHei"/>
                <a:ea typeface="Microsoft YaHei"/>
              </a:rPr>
              <a:t>已结束（终态）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14800" y="2194560"/>
            <a:ext cx="3108960" cy="365760"/>
          </a:xfrm>
          <a:prstGeom prst="rightArrow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7373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4FC3F7"/>
                </a:solidFill>
                <a:latin typeface="Microsoft YaHei"/>
                <a:ea typeface="Microsoft YaHei"/>
              </a:rPr>
              <a:t>作答最后一题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14800" y="4480560"/>
            <a:ext cx="3108960" cy="365760"/>
          </a:xfrm>
          <a:prstGeom prst="rightArrow">
            <a:avLst/>
          </a:prstGeom>
          <a:solidFill>
            <a:srgbClr val="C9D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49834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8FB0D4"/>
                </a:solidFill>
                <a:latin typeface="Microsoft YaHei"/>
                <a:ea typeface="Microsoft YaHei"/>
              </a:rPr>
              <a:t>提前结束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404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8FB0D4"/>
                </a:solidFill>
                <a:latin typeface="Microsoft YaHei"/>
                <a:ea typeface="Microsoft YaHei"/>
              </a:rPr>
              <a:t>逐题作答（非最后一题）→ 自环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76072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C9DFF0"/>
                </a:solidFill>
                <a:latin typeface="Microsoft YaHei"/>
                <a:ea typeface="Microsoft YaHei"/>
              </a:rPr>
              <a:t>completed / finished 为终态，拒绝继续作答与结束操作（409）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C9DFF0"/>
                </a:solidFill>
                <a:latin typeface="Microsoft YaHei"/>
                <a:ea typeface="Microsoft YaHei"/>
              </a:rPr>
              <a:t>项目技术栈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5240"/>
          </a:xfrm>
          <a:prstGeom prst="rect">
            <a:avLst/>
          </a:prstGeom>
          <a:solidFill>
            <a:srgbClr val="2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502920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8FB0D4"/>
                </a:solidFill>
                <a:latin typeface="Consolas"/>
                <a:ea typeface="Consola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solidFill>
            <a:srgbClr val="11294A"/>
          </a:solidFill>
          <a:ln w="12700">
            <a:solidFill>
              <a:srgbClr val="C9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FC3F7"/>
                </a:solidFill>
                <a:latin typeface="Microsoft YaHei"/>
                <a:ea typeface="Microsoft YaHei"/>
              </a:rPr>
              <a:t>后端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6E4F5"/>
                </a:solidFill>
                <a:latin typeface="Consolas"/>
                <a:ea typeface="Consolas"/>
              </a:rPr>
              <a:t>Python · FastAPI · SQLAlchemy · SQLite · Pydantic · bcrypt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78308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FB0D4"/>
                </a:solidFill>
                <a:latin typeface="Microsoft YaHei"/>
                <a:ea typeface="Microsoft YaHei"/>
              </a:rPr>
              <a:t>严格分层 router → service → repository · 每模块一包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solidFill>
            <a:srgbClr val="11294A"/>
          </a:solidFill>
          <a:ln w="12700">
            <a:solidFill>
              <a:srgbClr val="C9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3375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FC3F7"/>
                </a:solidFill>
                <a:latin typeface="Microsoft YaHei"/>
                <a:ea typeface="Microsoft YaHei"/>
              </a:rPr>
              <a:t>前端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6E4F5"/>
                </a:solidFill>
                <a:latin typeface="Consolas"/>
                <a:ea typeface="Consolas"/>
              </a:rPr>
              <a:t>HTML · CSS · JavaScript · fetch · localStorage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33756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FB0D4"/>
                </a:solidFill>
                <a:latin typeface="Microsoft YaHei"/>
                <a:ea typeface="Microsoft YaHei"/>
              </a:rPr>
              <a:t>5 个页面 · 原生无框架 · mock 后端 · 单服务同源联动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solidFill>
            <a:srgbClr val="0B1F33"/>
          </a:solidFill>
          <a:ln w="12700">
            <a:solidFill>
              <a:srgbClr val="FFB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9377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B74D"/>
                </a:solidFill>
                <a:latin typeface="Microsoft YaHei"/>
                <a:ea typeface="Microsoft YaHei"/>
              </a:rPr>
              <a:t>测试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9377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6E4F5"/>
                </a:solidFill>
                <a:latin typeface="Consolas"/>
                <a:ea typeface="Consolas"/>
              </a:rPr>
              <a:t>pytest · TestClient · Python 镜像 mock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93776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8FB0D4"/>
                </a:solidFill>
                <a:latin typeface="Microsoft YaHei"/>
                <a:ea typeface="Microsoft YaHei"/>
              </a:rPr>
              <a:t>76 + 26 用例全绿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C9DFF0"/>
                </a:solidFill>
                <a:latin typeface="Microsoft YaHei"/>
                <a:ea typeface="Microsoft YaHei"/>
              </a:rPr>
              <a:t>后端架构：router → service → 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5240"/>
          </a:xfrm>
          <a:prstGeom prst="rect">
            <a:avLst/>
          </a:prstGeom>
          <a:solidFill>
            <a:srgbClr val="2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502920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8FB0D4"/>
                </a:solidFill>
                <a:latin typeface="Consolas"/>
                <a:ea typeface="Consola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5943600" cy="914400"/>
          </a:xfrm>
          <a:prstGeom prst="rect">
            <a:avLst/>
          </a:prstGeom>
          <a:solidFill>
            <a:srgbClr val="11294A"/>
          </a:solidFill>
          <a:ln w="12700">
            <a:solidFill>
              <a:srgbClr val="C9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FC3F7"/>
                </a:solidFill>
                <a:latin typeface="Microsoft YaHei"/>
                <a:ea typeface="Microsoft YaHei"/>
              </a:rPr>
              <a:t>router（HTTP 层）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FB0D4"/>
                </a:solidFill>
                <a:latin typeface="Microsoft YaHei"/>
                <a:ea typeface="Microsoft YaHei"/>
              </a:rPr>
              <a:t>参数校验 · 调用 service · 统一响应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2697480"/>
            <a:ext cx="548640" cy="228600"/>
          </a:xfrm>
          <a:prstGeom prst="rightArrow">
            <a:avLst/>
          </a:prstGeom>
          <a:solidFill>
            <a:srgbClr val="C9D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834639"/>
            <a:ext cx="5943600" cy="914400"/>
          </a:xfrm>
          <a:prstGeom prst="rect">
            <a:avLst/>
          </a:prstGeom>
          <a:solidFill>
            <a:srgbClr val="11294A"/>
          </a:solidFill>
          <a:ln w="12700">
            <a:solidFill>
              <a:srgbClr val="C9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71799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FC3F7"/>
                </a:solidFill>
                <a:latin typeface="Microsoft YaHei"/>
                <a:ea typeface="Microsoft YaHei"/>
              </a:rPr>
              <a:t>service（业务逻辑层）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37559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FB0D4"/>
                </a:solidFill>
                <a:latin typeface="Microsoft YaHei"/>
                <a:ea typeface="Microsoft YaHei"/>
              </a:rPr>
              <a:t>业务规则 · 编排 · 事务管理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08960" y="3794759"/>
            <a:ext cx="548640" cy="228600"/>
          </a:xfrm>
          <a:prstGeom prst="rightArrow">
            <a:avLst/>
          </a:prstGeom>
          <a:solidFill>
            <a:srgbClr val="C9D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931920"/>
            <a:ext cx="5943600" cy="914400"/>
          </a:xfrm>
          <a:prstGeom prst="rect">
            <a:avLst/>
          </a:prstGeom>
          <a:solidFill>
            <a:srgbClr val="11294A"/>
          </a:solidFill>
          <a:ln w="12700">
            <a:solidFill>
              <a:srgbClr val="C9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6908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FC3F7"/>
                </a:solidFill>
                <a:latin typeface="Microsoft YaHei"/>
                <a:ea typeface="Microsoft YaHei"/>
              </a:rPr>
              <a:t>repository（数据访问层）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348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FB0D4"/>
                </a:solidFill>
                <a:latin typeface="Microsoft YaHei"/>
                <a:ea typeface="Microsoft YaHei"/>
              </a:rPr>
              <a:t>数据库读写 · 隔离 SQLite 可替换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1737360"/>
            <a:ext cx="4206240" cy="2926080"/>
          </a:xfrm>
          <a:prstGeom prst="rect">
            <a:avLst/>
          </a:prstGeom>
          <a:solidFill>
            <a:srgbClr val="11294A"/>
          </a:solidFill>
          <a:ln w="12700">
            <a:solidFill>
              <a:srgbClr val="C9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19202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6E4F5"/>
                </a:solidFill>
                <a:latin typeface="Microsoft YaHei"/>
                <a:ea typeface="Microsoft YaHei"/>
              </a:rPr>
              <a:t>7 个模块包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468880"/>
            <a:ext cx="3657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6E4F5"/>
                </a:solidFill>
                <a:latin typeface="Consolas"/>
                <a:ea typeface="Consolas"/>
              </a:rPr>
              <a:t>core · users · questions
engine · templates
interviews ·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FF0"/>
                </a:solidFill>
                <a:latin typeface="Microsoft YaHei"/>
                <a:ea typeface="Microsoft YaHei"/>
              </a:rPr>
              <a:t>engine 抽象：InterviewEngine 接口，上层只依赖接口，可零改动替换为真实大模型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C9DFF0"/>
                </a:solidFill>
                <a:latin typeface="Microsoft YaHei"/>
                <a:ea typeface="Microsoft YaHei"/>
              </a:rPr>
              <a:t>engine 抽象与题库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5240"/>
          </a:xfrm>
          <a:prstGeom prst="rect">
            <a:avLst/>
          </a:prstGeom>
          <a:solidFill>
            <a:srgbClr val="2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502920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8FB0D4"/>
                </a:solidFill>
                <a:latin typeface="Consolas"/>
                <a:ea typeface="Consola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5120640" cy="4206240"/>
          </a:xfrm>
          <a:prstGeom prst="rect">
            <a:avLst/>
          </a:prstGeom>
          <a:solidFill>
            <a:srgbClr val="11294A"/>
          </a:solidFill>
          <a:ln w="12700">
            <a:solidFill>
              <a:srgbClr val="C9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FC3F7"/>
                </a:solidFill>
                <a:latin typeface="Microsoft YaHei"/>
                <a:ea typeface="Microsoft YaHei"/>
              </a:rPr>
              <a:t>核心机制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45720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onsolas"/>
                <a:ea typeface="Consolas"/>
              </a:rPr>
              <a:t>InterviewEngine 接口
  draw_questions(...)
  evaluate_answer(...)
RuleBasedEngine 实现
  按方向+题型随机抽题
  关键词命中生成点评
questions 题库
  120 题种子数据
  seed_if_empty 幂等导入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120640" cy="4206240"/>
          </a:xfrm>
          <a:prstGeom prst="rect">
            <a:avLst/>
          </a:prstGeom>
          <a:solidFill>
            <a:srgbClr val="11294A"/>
          </a:solidFill>
          <a:ln w="12700">
            <a:solidFill>
              <a:srgbClr val="C9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FC3F7"/>
                </a:solidFill>
                <a:latin typeface="Microsoft YaHei"/>
                <a:ea typeface="Microsoft YaHei"/>
              </a:rPr>
              <a:t>调用序列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5720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onsolas"/>
                <a:ea typeface="Consolas"/>
              </a:rPr>
              <a:t>interviews.create
  → engine.draw_questions
    → questions.filter
      ← 题目序列
interviews.submit
  → engine.evaluate
    ← 点评文本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C9DFF0"/>
                </a:solidFill>
                <a:latin typeface="Microsoft YaHei"/>
                <a:ea typeface="Microsoft YaHei"/>
              </a:rPr>
              <a:t>interviews 会话模块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5240"/>
          </a:xfrm>
          <a:prstGeom prst="rect">
            <a:avLst/>
          </a:prstGeom>
          <a:solidFill>
            <a:srgbClr val="2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502920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8FB0D4"/>
                </a:solidFill>
                <a:latin typeface="Consolas"/>
                <a:ea typeface="Consola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5120640" cy="4206240"/>
          </a:xfrm>
          <a:prstGeom prst="rect">
            <a:avLst/>
          </a:prstGeom>
          <a:solidFill>
            <a:srgbClr val="11294A"/>
          </a:solidFill>
          <a:ln w="12700">
            <a:solidFill>
              <a:srgbClr val="C9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FC3F7"/>
                </a:solidFill>
                <a:latin typeface="Microsoft YaHei"/>
                <a:ea typeface="Microsoft YaHei"/>
              </a:rPr>
              <a:t>核心设计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4572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onsolas"/>
                <a:ea typeface="Consolas"/>
              </a:rPr>
              <a:t>create_session
  解析配置 → 引擎抽题
  一次性写入全部记录
submit_answer
  校验归属(403) 状态(409)
  回填当前记录
  过短回答拦截不推进
当前题 = 第一条未答记录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120640" cy="4206240"/>
          </a:xfrm>
          <a:prstGeom prst="rect">
            <a:avLst/>
          </a:prstGeom>
          <a:solidFill>
            <a:srgbClr val="11294A"/>
          </a:solidFill>
          <a:ln w="12700">
            <a:solidFill>
              <a:srgbClr val="C9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FC3F7"/>
                </a:solidFill>
                <a:latin typeface="Microsoft YaHei"/>
                <a:ea typeface="Microsoft YaHei"/>
              </a:rPr>
              <a:t>状态流转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5720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onsolas"/>
                <a:ea typeface="Consolas"/>
              </a:rPr>
              <a:t>POST /interviews
  → 创建 + 返回第一题
POST /answer
  → 点评 + 下一题
POST /finish
  → 提前结束
GET /interviews
  → 历史列表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C9DFF0"/>
                </a:solidFill>
                <a:latin typeface="Microsoft YaHei"/>
                <a:ea typeface="Microsoft YaHei"/>
              </a:rPr>
              <a:t>reports 报告与 users 认证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5240"/>
          </a:xfrm>
          <a:prstGeom prst="rect">
            <a:avLst/>
          </a:prstGeom>
          <a:solidFill>
            <a:srgbClr val="2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502920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8FB0D4"/>
                </a:solidFill>
                <a:latin typeface="Consolas"/>
                <a:ea typeface="Consola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5120640" cy="4206240"/>
          </a:xfrm>
          <a:prstGeom prst="rect">
            <a:avLst/>
          </a:prstGeom>
          <a:solidFill>
            <a:srgbClr val="11294A"/>
          </a:solidFill>
          <a:ln w="12700">
            <a:solidFill>
              <a:srgbClr val="C9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FC3F7"/>
                </a:solidFill>
                <a:latin typeface="Microsoft YaHei"/>
                <a:ea typeface="Microsoft YaHei"/>
              </a:rPr>
              <a:t>惰性生成报告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4572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onsolas"/>
                <a:ea typeface="Consolas"/>
              </a:rPr>
              <a:t>get_report
  校验归属 + 终态
  报告缺失则生成
generate_report
  只存评价 + 建议
  逐题点评取自记录
幂等：重复查询不重复生成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120640" cy="4206240"/>
          </a:xfrm>
          <a:prstGeom prst="rect">
            <a:avLst/>
          </a:prstGeom>
          <a:solidFill>
            <a:srgbClr val="11294A"/>
          </a:solidFill>
          <a:ln w="12700">
            <a:solidFill>
              <a:srgbClr val="C9DF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FC3F7"/>
                </a:solidFill>
                <a:latin typeface="Microsoft YaHei"/>
                <a:ea typeface="Microsoft YaHei"/>
              </a:rPr>
              <a:t>Bearer 认证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572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6E4F5"/>
                </a:solidFill>
                <a:latin typeface="Consolas"/>
                <a:ea typeface="Consolas"/>
              </a:rPr>
              <a:t>注册 / 登录
  bcrypt 密码哈希
  随机 token 会话
get_current_user
  解析 Bearer token
  → 返回 user_id
所有会话按 user_id 隔离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C9DFF0"/>
                </a:solidFill>
                <a:latin typeface="Microsoft YaHei"/>
                <a:ea typeface="Microsoft YaHei"/>
              </a:rPr>
              <a:t>遇到的问题与解决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5240"/>
          </a:xfrm>
          <a:prstGeom prst="rect">
            <a:avLst/>
          </a:prstGeom>
          <a:solidFill>
            <a:srgbClr val="2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502920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8FB0D4"/>
                </a:solidFill>
                <a:latin typeface="Consolas"/>
                <a:ea typeface="Consola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74D"/>
                </a:solidFill>
                <a:latin typeface="Microsoft YaHei"/>
                <a:ea typeface="Microsoft YaHei"/>
              </a:rPr>
              <a:t>问题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6E4F5"/>
                </a:solidFill>
                <a:latin typeface="Microsoft YaHei"/>
                <a:ea typeface="Microsoft YaHei"/>
              </a:rPr>
              <a:t>PRD 原定匿名 X-Client-Id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FC3F7"/>
                </a:solidFill>
                <a:latin typeface="Microsoft YaHei"/>
                <a:ea typeface="Microsoft YaHei"/>
              </a:rPr>
              <a:t>→ 以 Bearer token 的 user_id 替代 client_id 做归属隔离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74D"/>
                </a:solidFill>
                <a:latin typeface="Microsoft YaHei"/>
                <a:ea typeface="Microsoft YaHei"/>
              </a:rPr>
              <a:t>问题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6E4F5"/>
                </a:solidFill>
                <a:latin typeface="Microsoft YaHei"/>
                <a:ea typeface="Microsoft YaHei"/>
              </a:rPr>
              <a:t>interviews 与 reports 反向依赖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FC3F7"/>
                </a:solidFill>
                <a:latin typeface="Microsoft YaHei"/>
                <a:ea typeface="Microsoft YaHei"/>
              </a:rPr>
              <a:t>→ 报告改为查询时惰性生成，避免反向依赖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74D"/>
                </a:solidFill>
                <a:latin typeface="Microsoft YaHei"/>
                <a:ea typeface="Microsoft YaHei"/>
              </a:rPr>
              <a:t>问题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6E4F5"/>
                </a:solidFill>
                <a:latin typeface="Microsoft YaHei"/>
                <a:ea typeface="Microsoft YaHei"/>
              </a:rPr>
              <a:t>前后端分离跨源失败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77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FC3F7"/>
                </a:solidFill>
                <a:latin typeface="Microsoft YaHei"/>
                <a:ea typeface="Microsoft YaHei"/>
              </a:rPr>
              <a:t>→ 后端托管前端静态文件，单服务同源联动 + CORS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C9DFF0"/>
                </a:solidFill>
                <a:latin typeface="Microsoft YaHei"/>
                <a:ea typeface="Microsoft YaHei"/>
              </a:rPr>
              <a:t>项目收获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5240"/>
          </a:xfrm>
          <a:prstGeom prst="rect">
            <a:avLst/>
          </a:prstGeom>
          <a:solidFill>
            <a:srgbClr val="2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502920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8FB0D4"/>
                </a:solidFill>
                <a:latin typeface="Consolas"/>
                <a:ea typeface="Consola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  <a:latin typeface="Consolas"/>
                <a:ea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4F5"/>
                </a:solidFill>
                <a:latin typeface="Microsoft YaHei"/>
                <a:ea typeface="Microsoft YaHei"/>
              </a:rPr>
              <a:t>严格 TDD：先写失败测试再实现，76 用例全绿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  <a:latin typeface="Consolas"/>
                <a:ea typeface="Consola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51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4F5"/>
                </a:solidFill>
                <a:latin typeface="Microsoft YaHei"/>
                <a:ea typeface="Microsoft YaHei"/>
              </a:rPr>
              <a:t>分层架构：router / service / repository 职责清晰，每模块一包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  <a:latin typeface="Consolas"/>
                <a:ea typeface="Consola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47472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4F5"/>
                </a:solidFill>
                <a:latin typeface="Microsoft YaHei"/>
                <a:ea typeface="Microsoft YaHei"/>
              </a:rPr>
              <a:t>面向接口：engine 抽象可零改动替换真实大模型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  <a:latin typeface="Consolas"/>
                <a:ea typeface="Consola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297679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4F5"/>
                </a:solidFill>
                <a:latin typeface="Microsoft YaHei"/>
                <a:ea typeface="Microsoft YaHei"/>
              </a:rPr>
              <a:t>数据隔离：repository 层隔离 SQLite，可替换 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2920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  <a:latin typeface="Consolas"/>
                <a:ea typeface="Consola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12064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4F5"/>
                </a:solidFill>
                <a:latin typeface="Microsoft YaHei"/>
                <a:ea typeface="Microsoft YaHei"/>
              </a:rPr>
              <a:t>前后端闭环：单服务联动 + mock 测试 + 完整文档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46304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C9DFF0"/>
                </a:solidFill>
                <a:latin typeface="Microsoft YaHei"/>
                <a:ea typeface="Microsoft YaHei"/>
              </a:rPr>
              <a:t>展望与结语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65176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FC3F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26517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4F5"/>
                </a:solidFill>
                <a:latin typeface="Microsoft YaHei"/>
                <a:ea typeface="Microsoft YaHei"/>
              </a:rPr>
              <a:t>接入真实大模型：LLMEngine 替换 RuleBasedEngine，上层零改动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291839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FC3F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3291839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4F5"/>
                </a:solidFill>
                <a:latin typeface="Microsoft YaHei"/>
                <a:ea typeface="Microsoft YaHei"/>
              </a:rPr>
              <a:t>语音面试：语音识别 + 语音合成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9319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FC3F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9319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4F5"/>
                </a:solidFill>
                <a:latin typeface="Microsoft YaHei"/>
                <a:ea typeface="Microsoft YaHei"/>
              </a:rPr>
              <a:t>动态追问与多轮深入对话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57200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FC3F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57200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4F5"/>
                </a:solidFill>
                <a:latin typeface="Microsoft YaHei"/>
                <a:ea typeface="Microsoft YaHei"/>
              </a:rPr>
              <a:t>用户账号跨设备同步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212079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FC3F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5212079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4F5"/>
                </a:solidFill>
                <a:latin typeface="Microsoft YaHei"/>
                <a:ea typeface="Microsoft YaHei"/>
              </a:rPr>
              <a:t>面试评分与成长曲线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8FB0D4"/>
                </a:solidFill>
                <a:latin typeface="Microsoft YaHei"/>
                <a:ea typeface="Microsoft YaHei"/>
              </a:rPr>
              <a:t>MVP 已闭环 · 感谢观看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