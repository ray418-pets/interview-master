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C9DFF0"/>
                </a:solidFill>
                <a:latin typeface="Microsoft YaHei"/>
                <a:ea typeface="Microsoft YaHei"/>
              </a:rPr>
              <a:t>AI 智能面试助手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8FB0D4"/>
                </a:solidFill>
                <a:latin typeface="Microsoft YaHei"/>
                <a:ea typeface="Microsoft YaHei"/>
              </a:rPr>
              <a:t>从需求到落地的完整工程实践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4389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4FC3F7"/>
                </a:solidFill>
                <a:latin typeface="Consolas"/>
                <a:ea typeface="Consola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5120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后端模块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4389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4FC3F7"/>
                </a:solidFill>
                <a:latin typeface="Consolas"/>
                <a:ea typeface="Consola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5120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前端页面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389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4FC3F7"/>
                </a:solidFill>
                <a:latin typeface="Consolas"/>
                <a:ea typeface="Consolas"/>
              </a:rPr>
              <a:t>76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5120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测试用例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43891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B74D"/>
                </a:solidFill>
                <a:latin typeface="Consolas"/>
                <a:ea typeface="Consolas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5120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API 接口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FB0D4"/>
                </a:solidFill>
                <a:latin typeface="Microsoft YaHei"/>
                <a:ea typeface="Microsoft YaHei"/>
              </a:rPr>
              <a:t>AI 智能面试助手 · 技术分享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C9DFF0"/>
                </a:solidFill>
                <a:latin typeface="Microsoft YaHei"/>
                <a:ea typeface="Microsoft YaHei"/>
              </a:rPr>
              <a:t>内容总览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5240"/>
          </a:xfrm>
          <a:prstGeom prst="rect">
            <a:avLst/>
          </a:prstGeom>
          <a:solidFill>
            <a:srgbClr val="2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FC3F7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8288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D6E4F5"/>
                </a:solidFill>
                <a:latin typeface="Microsoft YaHei"/>
                <a:ea typeface="Microsoft YaHei"/>
              </a:rPr>
              <a:t>项目概述与背景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23317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为什么做 · 核心价值 · 产品定位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4320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FC3F7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7432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D6E4F5"/>
                </a:solidFill>
                <a:latin typeface="Microsoft YaHei"/>
                <a:ea typeface="Microsoft YaHei"/>
              </a:rPr>
              <a:t>业务流程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32461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完整闭环 · 会话状态机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5760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FC3F7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36576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D6E4F5"/>
                </a:solidFill>
                <a:latin typeface="Microsoft YaHei"/>
                <a:ea typeface="Microsoft YaHei"/>
              </a:rPr>
              <a:t>项目技术栈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41605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后端 · 前端 · 数据库 · 测试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57200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4FC3F7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45720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D6E4F5"/>
                </a:solidFill>
                <a:latin typeface="Microsoft YaHei"/>
                <a:ea typeface="Microsoft YaHei"/>
              </a:rPr>
              <a:t>核心模块技术讲解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0749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架构分层 · engine · interviews · reports · users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48640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B74D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5486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D6E4F5"/>
                </a:solidFill>
                <a:latin typeface="Microsoft YaHei"/>
                <a:ea typeface="Microsoft YaHei"/>
              </a:rPr>
              <a:t>收获与展望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59893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遇到的问题 · 工程沉淀 · 下一步演进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C9DFF0"/>
                </a:solidFill>
                <a:latin typeface="Microsoft YaHei"/>
                <a:ea typeface="Microsoft YaHei"/>
              </a:rPr>
              <a:t>项目概述：为什么做 AI 面试陪练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5240"/>
          </a:xfrm>
          <a:prstGeom prst="rect">
            <a:avLst/>
          </a:prstGeom>
          <a:solidFill>
            <a:srgbClr val="2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0" y="50292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FB0D4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640080" cy="640080"/>
          </a:xfrm>
          <a:prstGeom prst="roundRect">
            <a:avLst/>
          </a:prstGeom>
          <a:solidFill>
            <a:srgbClr val="0B1F33"/>
          </a:solidFill>
          <a:ln w="1905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4708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4FC3F7"/>
                </a:solidFill>
                <a:latin typeface="Consolas"/>
                <a:ea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691639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6E4F5"/>
                </a:solidFill>
                <a:latin typeface="Microsoft YaHei"/>
                <a:ea typeface="Microsoft YaHei"/>
              </a:rPr>
              <a:t>背景：练习成本高、缺反馈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19456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FB0D4"/>
                </a:solidFill>
                <a:latin typeface="Microsoft YaHei"/>
                <a:ea typeface="Microsoft YaHei"/>
              </a:rPr>
              <a:t>求职者面试前缺乏充分练习：没有合适的面试官、缺少针对性反馈、练习成本高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08960"/>
            <a:ext cx="640080" cy="640080"/>
          </a:xfrm>
          <a:prstGeom prst="roundRect">
            <a:avLst/>
          </a:prstGeom>
          <a:solidFill>
            <a:srgbClr val="0B1F33"/>
          </a:solidFill>
          <a:ln w="1905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21868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4FC3F7"/>
                </a:solidFill>
                <a:latin typeface="Consolas"/>
                <a:ea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0632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6E4F5"/>
                </a:solidFill>
                <a:latin typeface="Microsoft YaHei"/>
                <a:ea typeface="Microsoft YaHei"/>
              </a:rPr>
              <a:t>定位：面向求职者的 AI 面试陪练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56616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FB0D4"/>
                </a:solidFill>
                <a:latin typeface="Microsoft YaHei"/>
                <a:ea typeface="Microsoft YaHei"/>
              </a:rPr>
              <a:t>PC 端 Web 应用，由 AI 扮演面试官，通过文字对话完成一次结构化模拟面试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80560"/>
            <a:ext cx="640080" cy="640080"/>
          </a:xfrm>
          <a:prstGeom prst="roundRect">
            <a:avLst/>
          </a:prstGeom>
          <a:solidFill>
            <a:srgbClr val="0B1F33"/>
          </a:solidFill>
          <a:ln w="19050">
            <a:solidFill>
              <a:srgbClr val="FF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59028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B74D"/>
                </a:solidFill>
                <a:latin typeface="Consolas"/>
                <a:ea typeface="Consola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4348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6E4F5"/>
                </a:solidFill>
                <a:latin typeface="Microsoft YaHei"/>
                <a:ea typeface="Microsoft YaHei"/>
              </a:rPr>
              <a:t>目标用户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93776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FB0D4"/>
                </a:solidFill>
                <a:latin typeface="Microsoft YaHei"/>
                <a:ea typeface="Microsoft YaHei"/>
              </a:rPr>
              <a:t>正在准备求职面试的求职者（校招 / 社招），以及希望提升面试表达的人群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C9DFF0"/>
                </a:solidFill>
                <a:latin typeface="Microsoft YaHei"/>
                <a:ea typeface="Microsoft YaHei"/>
              </a:rPr>
              <a:t>核心价值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5240"/>
          </a:xfrm>
          <a:prstGeom prst="rect">
            <a:avLst/>
          </a:prstGeom>
          <a:solidFill>
            <a:srgbClr val="2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0" y="50292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FB0D4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200400" cy="365760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0116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FC3F7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6E4F5"/>
                </a:solidFill>
                <a:latin typeface="Microsoft YaHei"/>
                <a:ea typeface="Microsoft YaHei"/>
              </a:rPr>
              <a:t>零成本随时随练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74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FB0D4"/>
                </a:solidFill>
                <a:latin typeface="Microsoft YaHei"/>
                <a:ea typeface="Microsoft YaHei"/>
              </a:rPr>
              <a:t>无需真人面试官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776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FB0D4"/>
                </a:solidFill>
                <a:latin typeface="Microsoft YaHei"/>
                <a:ea typeface="Microsoft YaHei"/>
              </a:rPr>
              <a:t>打开浏览器即可练习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480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FB0D4"/>
                </a:solidFill>
                <a:latin typeface="Microsoft YaHei"/>
                <a:ea typeface="Microsoft YaHei"/>
              </a:rPr>
              <a:t>随时随地开始模拟面试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1828800"/>
            <a:ext cx="3200400" cy="365760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20116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FC3F7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51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6E4F5"/>
                </a:solidFill>
                <a:latin typeface="Microsoft YaHei"/>
                <a:ea typeface="Microsoft YaHei"/>
              </a:rPr>
              <a:t>结构化流程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474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FB0D4"/>
                </a:solidFill>
                <a:latin typeface="Microsoft YaHei"/>
                <a:ea typeface="Microsoft YaHei"/>
              </a:rPr>
              <a:t>按岗位方向 / 题型 / 轮数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9776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FB0D4"/>
                </a:solidFill>
                <a:latin typeface="Microsoft YaHei"/>
                <a:ea typeface="Microsoft YaHei"/>
              </a:rPr>
              <a:t>定制面试配置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480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FB0D4"/>
                </a:solidFill>
                <a:latin typeface="Microsoft YaHei"/>
                <a:ea typeface="Microsoft YaHei"/>
              </a:rPr>
              <a:t>贴近真实面试节奏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828800"/>
            <a:ext cx="3200400" cy="365760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B74D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6517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6E4F5"/>
                </a:solidFill>
                <a:latin typeface="Microsoft YaHei"/>
                <a:ea typeface="Microsoft YaHei"/>
              </a:rPr>
              <a:t>针对性反馈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4747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FB0D4"/>
                </a:solidFill>
                <a:latin typeface="Microsoft YaHei"/>
                <a:ea typeface="Microsoft YaHei"/>
              </a:rPr>
              <a:t>每题即时文字点评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9776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FB0D4"/>
                </a:solidFill>
                <a:latin typeface="Microsoft YaHei"/>
                <a:ea typeface="Microsoft YaHei"/>
              </a:rPr>
              <a:t>整体评价与改进建议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480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FB0D4"/>
                </a:solidFill>
                <a:latin typeface="Microsoft YaHei"/>
                <a:ea typeface="Microsoft YaHei"/>
              </a:rPr>
              <a:t>发现自身薄弱环节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C9DFF0"/>
                </a:solidFill>
                <a:latin typeface="Microsoft YaHei"/>
                <a:ea typeface="Microsoft YaHei"/>
              </a:rPr>
              <a:t>业务流程总览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5240"/>
          </a:xfrm>
          <a:prstGeom prst="rect">
            <a:avLst/>
          </a:prstGeom>
          <a:solidFill>
            <a:srgbClr val="2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0" y="50292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FB0D4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286000" cy="2011680"/>
          </a:xfrm>
          <a:prstGeom prst="roundRect">
            <a:avLst/>
          </a:prstGeom>
          <a:solidFill>
            <a:srgbClr val="11294A"/>
          </a:solidFill>
          <a:ln w="1905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1945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FC3F7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432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6E4F5"/>
                </a:solidFill>
                <a:latin typeface="Microsoft YaHei"/>
                <a:ea typeface="Microsoft YaHei"/>
              </a:rPr>
              <a:t>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3832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选预设模板或自定义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404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岗位方向 · 题型 · 数量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4679" y="2743200"/>
            <a:ext cx="502920" cy="411480"/>
          </a:xfrm>
          <a:prstGeom prst="rightArrow">
            <a:avLst/>
          </a:prstGeom>
          <a:solidFill>
            <a:srgbClr val="C9D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9040" y="2011680"/>
            <a:ext cx="2286000" cy="201168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77640" y="21945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FC3F7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7432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6E4F5"/>
                </a:solidFill>
                <a:latin typeface="Microsoft YaHei"/>
                <a:ea typeface="Microsoft YaHei"/>
              </a:rPr>
              <a:t>面试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40" y="33832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AI 逐题提问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38404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用户文字作答 · 即时点评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80760" y="2743200"/>
            <a:ext cx="502920" cy="411480"/>
          </a:xfrm>
          <a:prstGeom prst="rightArrow">
            <a:avLst/>
          </a:prstGeom>
          <a:solidFill>
            <a:srgbClr val="C9D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75120" y="2011680"/>
            <a:ext cx="2286000" cy="201168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21945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FC3F7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7432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6E4F5"/>
                </a:solidFill>
                <a:latin typeface="Microsoft YaHei"/>
                <a:ea typeface="Microsoft YaHei"/>
              </a:rPr>
              <a:t>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33832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总体评价 · 改进建议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38404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逐题点评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006840" y="2743200"/>
            <a:ext cx="502920" cy="411480"/>
          </a:xfrm>
          <a:prstGeom prst="rightArrow">
            <a:avLst/>
          </a:prstGeom>
          <a:solidFill>
            <a:srgbClr val="C9D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01200" y="2011680"/>
            <a:ext cx="2286000" cy="201168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29800" y="21945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B74D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7432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D6E4F5"/>
                </a:solidFill>
                <a:latin typeface="Microsoft YaHei"/>
                <a:ea typeface="Microsoft YaHei"/>
              </a:rPr>
              <a:t>历史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33832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按用户隔离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384048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回看评估报告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4754880"/>
            <a:ext cx="9966960" cy="822960"/>
          </a:xfrm>
          <a:prstGeom prst="rect">
            <a:avLst/>
          </a:prstGeom>
          <a:solidFill>
            <a:srgbClr val="11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4983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9DFF0"/>
                </a:solidFill>
                <a:latin typeface="Microsoft YaHei"/>
                <a:ea typeface="Microsoft YaHei"/>
              </a:rPr>
              <a:t>用户经历「配置 → 面试 → 报告 → 历史回顾」四阶段，构成完整练习闭环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C9DFF0"/>
                </a:solidFill>
                <a:latin typeface="Microsoft YaHei"/>
                <a:ea typeface="Microsoft YaHei"/>
              </a:rPr>
              <a:t>面试会话状态机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5240"/>
          </a:xfrm>
          <a:prstGeom prst="rect">
            <a:avLst/>
          </a:prstGeom>
          <a:solidFill>
            <a:srgbClr val="2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0" y="50292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FB0D4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377440"/>
            <a:ext cx="2926080" cy="1097280"/>
          </a:xfrm>
          <a:prstGeom prst="roundRect">
            <a:avLst/>
          </a:prstGeom>
          <a:solidFill>
            <a:srgbClr val="11294A"/>
          </a:solidFill>
          <a:ln w="2540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5603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C3F7"/>
                </a:solidFill>
                <a:latin typeface="Consolas"/>
                <a:ea typeface="Consolas"/>
              </a:rPr>
              <a:t>in_progress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17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进行中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737360"/>
            <a:ext cx="2926080" cy="109728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19202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6E4F5"/>
                </a:solidFill>
                <a:latin typeface="Consolas"/>
                <a:ea typeface="Consolas"/>
              </a:rPr>
              <a:t>completed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3774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已完成（终态）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4206240"/>
            <a:ext cx="2926080" cy="109728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4389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6E4F5"/>
                </a:solidFill>
                <a:latin typeface="Consolas"/>
                <a:ea typeface="Consolas"/>
              </a:rPr>
              <a:t>finished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48463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已结束（终态）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14800" y="2194560"/>
            <a:ext cx="3108960" cy="365760"/>
          </a:xfrm>
          <a:prstGeom prst="rightArrow">
            <a:avLst/>
          </a:prstGeom>
          <a:solidFill>
            <a:srgbClr val="4FC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0" y="1737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FC3F7"/>
                </a:solidFill>
                <a:latin typeface="Microsoft YaHei"/>
                <a:ea typeface="Microsoft YaHei"/>
              </a:rPr>
              <a:t>作答最后一题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14800" y="4480560"/>
            <a:ext cx="3108960" cy="365760"/>
          </a:xfrm>
          <a:prstGeom prst="rightArrow">
            <a:avLst/>
          </a:prstGeom>
          <a:solidFill>
            <a:srgbClr val="C9D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6240" y="49834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提前结束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404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逐题作答（非最后一题）→ 自环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7607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9DFF0"/>
                </a:solidFill>
                <a:latin typeface="Microsoft YaHei"/>
                <a:ea typeface="Microsoft YaHei"/>
              </a:rPr>
              <a:t>completed / finished 为终态，拒绝继续作答与结束操作（409）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C9DFF0"/>
                </a:solidFill>
                <a:latin typeface="Microsoft YaHei"/>
                <a:ea typeface="Microsoft YaHei"/>
              </a:rPr>
              <a:t>项目技术栈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5240"/>
          </a:xfrm>
          <a:prstGeom prst="rect">
            <a:avLst/>
          </a:prstGeom>
          <a:solidFill>
            <a:srgbClr val="2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0" y="50292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FB0D4"/>
                </a:solidFill>
                <a:latin typeface="Consolas"/>
                <a:ea typeface="Consola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10515600" cy="128016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C3F7"/>
                </a:solidFill>
                <a:latin typeface="Microsoft YaHei"/>
                <a:ea typeface="Microsoft YaHei"/>
              </a:rPr>
              <a:t>后端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6E4F5"/>
                </a:solidFill>
                <a:latin typeface="Consolas"/>
                <a:ea typeface="Consolas"/>
              </a:rPr>
              <a:t>Python · FastAPI · SQLAlchemy · SQLite · Pydantic · bcrypt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78308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严格分层 router → service → repository · 每模块一包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00400"/>
            <a:ext cx="10515600" cy="128016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3375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C3F7"/>
                </a:solidFill>
                <a:latin typeface="Microsoft YaHei"/>
                <a:ea typeface="Microsoft YaHei"/>
              </a:rPr>
              <a:t>前端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404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6E4F5"/>
                </a:solidFill>
                <a:latin typeface="Consolas"/>
                <a:ea typeface="Consolas"/>
              </a:rPr>
              <a:t>HTML · CSS · JavaScript · fetch · localStorage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337560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5 个页面 · 原生无框架 · mock 后端 · 单服务同源联动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754880"/>
            <a:ext cx="10515600" cy="914400"/>
          </a:xfrm>
          <a:prstGeom prst="roundRect">
            <a:avLst/>
          </a:prstGeom>
          <a:solidFill>
            <a:srgbClr val="0B1F33"/>
          </a:solidFill>
          <a:ln w="19050">
            <a:solidFill>
              <a:srgbClr val="FF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37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B74D"/>
                </a:solidFill>
                <a:latin typeface="Microsoft YaHei"/>
                <a:ea typeface="Microsoft YaHei"/>
              </a:rPr>
              <a:t>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937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D6E4F5"/>
                </a:solidFill>
                <a:latin typeface="Consolas"/>
                <a:ea typeface="Consolas"/>
              </a:rPr>
              <a:t>pytest · TestClient · Python 镜像 mock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9377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76 + 26 用例全绿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C9DFF0"/>
                </a:solidFill>
                <a:latin typeface="Microsoft YaHei"/>
                <a:ea typeface="Microsoft YaHei"/>
              </a:rPr>
              <a:t>后端架构：router → service → repository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5240"/>
          </a:xfrm>
          <a:prstGeom prst="rect">
            <a:avLst/>
          </a:prstGeom>
          <a:solidFill>
            <a:srgbClr val="2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0" y="50292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FB0D4"/>
                </a:solidFill>
                <a:latin typeface="Consolas"/>
                <a:ea typeface="Consolas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5943600" cy="105156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C3F7"/>
                </a:solidFill>
                <a:latin typeface="Microsoft YaHei"/>
                <a:ea typeface="Microsoft YaHei"/>
              </a:rPr>
              <a:t>router（HTTP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解析请求 · 参数校验 · 调用 service · 统一响应 {code,message,data} · 不写业务逻辑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08960" y="2743200"/>
            <a:ext cx="548640" cy="228600"/>
          </a:xfrm>
          <a:prstGeom prst="rightArrow">
            <a:avLst/>
          </a:prstGeom>
          <a:solidFill>
            <a:srgbClr val="C9D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2880360"/>
            <a:ext cx="5943600" cy="105156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C3F7"/>
                </a:solidFill>
                <a:latin typeface="Microsoft YaHei"/>
                <a:ea typeface="Microsoft YaHei"/>
              </a:rPr>
              <a:t>service（业务逻辑层）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429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业务规则 · 编排 · 事务管理 · 归属校验 · 抛 AppError 业务异常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08960" y="3977640"/>
            <a:ext cx="548640" cy="228600"/>
          </a:xfrm>
          <a:prstGeom prst="rightArrow">
            <a:avLst/>
          </a:prstGeom>
          <a:solidFill>
            <a:srgbClr val="C9DF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4114800"/>
            <a:ext cx="5943600" cy="105156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2519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C3F7"/>
                </a:solidFill>
                <a:latin typeface="Microsoft YaHei"/>
                <a:ea typeface="Microsoft YaHei"/>
              </a:rPr>
              <a:t>repository（数据访问层）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6634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SQLAlchemy 查询 · 增删改查 · 隔离 SQLite 可替换 PostgreSQL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0" y="1645920"/>
            <a:ext cx="4206240" cy="365760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79" y="18288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D6E4F5"/>
                </a:solidFill>
                <a:latin typeface="Microsoft YaHei"/>
                <a:ea typeface="Microsoft YaHei"/>
              </a:rPr>
              <a:t>7 个模块包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377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5"/>
                </a:solidFill>
                <a:latin typeface="Consolas"/>
                <a:ea typeface="Consolas"/>
              </a:rPr>
              <a:t>core  配置·数据库·异常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279806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5"/>
                </a:solidFill>
                <a:latin typeface="Consolas"/>
                <a:ea typeface="Consolas"/>
              </a:rPr>
              <a:t>users  Bearer 认证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21868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5"/>
                </a:solidFill>
                <a:latin typeface="Consolas"/>
                <a:ea typeface="Consolas"/>
              </a:rPr>
              <a:t>questions  题库·种子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36393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5"/>
                </a:solidFill>
                <a:latin typeface="Consolas"/>
                <a:ea typeface="Consolas"/>
              </a:rPr>
              <a:t>engine  InterviewEngine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405993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5"/>
                </a:solidFill>
                <a:latin typeface="Consolas"/>
                <a:ea typeface="Consolas"/>
              </a:rPr>
              <a:t>templates  预设模板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4480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5"/>
                </a:solidFill>
                <a:latin typeface="Consolas"/>
                <a:ea typeface="Consolas"/>
              </a:rPr>
              <a:t>interviews  会话·状态机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79" y="4901184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5"/>
                </a:solidFill>
                <a:latin typeface="Consolas"/>
                <a:ea typeface="Consolas"/>
              </a:rPr>
              <a:t>reports  惰性报告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4864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B74D"/>
                </a:solidFill>
                <a:latin typeface="Microsoft YaHei"/>
                <a:ea typeface="Microsoft YaHei"/>
              </a:rPr>
              <a:t>engine 抽象：上层只依赖 InterviewEngine 接口，可零改动替换为真实大模型实现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C9DFF0"/>
                </a:solidFill>
                <a:latin typeface="Microsoft YaHei"/>
                <a:ea typeface="Microsoft YaHei"/>
              </a:rPr>
              <a:t>engine 抽象与题库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5240"/>
          </a:xfrm>
          <a:prstGeom prst="rect">
            <a:avLst/>
          </a:prstGeom>
          <a:solidFill>
            <a:srgbClr val="2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0" y="50292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FB0D4"/>
                </a:solidFill>
                <a:latin typeface="Consolas"/>
                <a:ea typeface="Consolas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5303520" cy="448056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C3F7"/>
                </a:solidFill>
                <a:latin typeface="Microsoft YaHei"/>
                <a:ea typeface="Microsoft YaHei"/>
              </a:rPr>
              <a:t>InterviewEngine 接口（Protocol）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5"/>
                </a:solidFill>
                <a:latin typeface="Consolas"/>
                <a:ea typeface="Consolas"/>
              </a:rPr>
              <a:t>draw_questions(db, direction, segments)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697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→ List[Question] 按配置抽题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1089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5"/>
                </a:solidFill>
                <a:latin typeface="Consolas"/>
                <a:ea typeface="Consolas"/>
              </a:rPr>
              <a:t>evaluate_answer(question, answer)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474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→ str 生成单题点评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77639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C3F7"/>
                </a:solidFill>
                <a:latin typeface="Microsoft YaHei"/>
                <a:ea typeface="Microsoft YaHei"/>
              </a:rPr>
              <a:t>RuleBasedEngine 实现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4F5"/>
                </a:solidFill>
                <a:latin typeface="Microsoft YaHei"/>
                <a:ea typeface="Microsoft YaHei"/>
              </a:rPr>
              <a:t>· 遍历 segments 按方向+题型筛选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8463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4F5"/>
                </a:solidFill>
                <a:latin typeface="Microsoft YaHei"/>
                <a:ea typeface="Microsoft YaHei"/>
              </a:rPr>
              <a:t>· 随机抽样不重复（rng 可注入）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2120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4F5"/>
                </a:solidFill>
                <a:latin typeface="Microsoft YaHei"/>
                <a:ea typeface="Microsoft YaHei"/>
              </a:rPr>
              <a:t>· 题目不足抛 AppError(40004)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577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4F5"/>
                </a:solidFill>
                <a:latin typeface="Microsoft YaHei"/>
                <a:ea typeface="Microsoft YaHei"/>
              </a:rPr>
              <a:t>· 点评 = 参考要点关键词命中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897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Consolas"/>
                <a:ea typeface="Consolas"/>
              </a:rPr>
              <a:t>Question: content + reference_points(JSON)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1645920"/>
            <a:ext cx="5029200" cy="448056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C3F7"/>
                </a:solidFill>
                <a:latin typeface="Microsoft YaHei"/>
                <a:ea typeface="Microsoft YaHei"/>
              </a:rPr>
              <a:t>调用序列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37744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5"/>
                </a:solidFill>
                <a:latin typeface="Consolas"/>
                <a:ea typeface="Consolas"/>
              </a:rPr>
              <a:t>interviews.create
  → engine.draw_questions
    → questions.filter
      ← 题目序列
interviews.submit
  → engine.evaluate
    ← 点评文本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5897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B74D"/>
                </a:solidFill>
                <a:latin typeface="Microsoft YaHei"/>
                <a:ea typeface="Microsoft YaHei"/>
              </a:rPr>
              <a:t>点评确定性：同输入同输出，可复现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C9DFF0"/>
                </a:solidFill>
                <a:latin typeface="Microsoft YaHei"/>
                <a:ea typeface="Microsoft YaHei"/>
              </a:rPr>
              <a:t>interviews 会话模块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5240"/>
          </a:xfrm>
          <a:prstGeom prst="rect">
            <a:avLst/>
          </a:prstGeom>
          <a:solidFill>
            <a:srgbClr val="2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0" y="50292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FB0D4"/>
                </a:solidFill>
                <a:latin typeface="Consolas"/>
                <a:ea typeface="Consola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5303520" cy="448056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C3F7"/>
                </a:solidFill>
                <a:latin typeface="Consolas"/>
                <a:ea typeface="Consolas"/>
              </a:rPr>
              <a:t>create_session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4F5"/>
                </a:solidFill>
                <a:latin typeface="Microsoft YaHei"/>
                <a:ea typeface="Microsoft YaHei"/>
              </a:rPr>
              <a:t>解析配置（模板/自定义）→ 引擎抽题 → 一次性写入全部记录 → 返回第一题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004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C3F7"/>
                </a:solidFill>
                <a:latin typeface="Consolas"/>
                <a:ea typeface="Consolas"/>
              </a:rPr>
              <a:t>submit_answer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576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4F5"/>
                </a:solidFill>
                <a:latin typeface="Microsoft YaHei"/>
                <a:ea typeface="Microsoft YaHei"/>
              </a:rPr>
              <a:t>校验归属(403)+状态(409) → 找当前题 → 过短(&lt;10)拦截 → 引擎点评 → 回填 → 推进或 completed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B74D"/>
                </a:solidFill>
                <a:latin typeface="Microsoft YaHei"/>
                <a:ea typeface="Microsoft YaHei"/>
              </a:rPr>
              <a:t>关键设计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39496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当前题 = 第一条未答记录（状态单一来源）
归属校验在 service 层，所有操作校验 user_id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645920"/>
            <a:ext cx="5029200" cy="448056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C3F7"/>
                </a:solidFill>
                <a:latin typeface="Microsoft YaHei"/>
                <a:ea typeface="Microsoft YaHei"/>
              </a:rPr>
              <a:t>submit_answer 序列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37744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4F5"/>
                </a:solidFill>
                <a:latin typeface="Consolas"/>
                <a:ea typeface="Consolas"/>
              </a:rPr>
              <a:t>client → service: submit_answer
service → engine: evaluate_answer
engine → service: 返回 feedback
service → repository: 回填记录
service → client: 点评+下一题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5897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B74D"/>
                </a:solidFill>
                <a:latin typeface="Microsoft YaHei"/>
                <a:ea typeface="Microsoft YaHei"/>
              </a:rPr>
              <a:t>每答一题：点评 → 回填 → 推进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C9DFF0"/>
                </a:solidFill>
                <a:latin typeface="Microsoft YaHei"/>
                <a:ea typeface="Microsoft YaHei"/>
              </a:rPr>
              <a:t>reports 报告与 users 认证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5240"/>
          </a:xfrm>
          <a:prstGeom prst="rect">
            <a:avLst/>
          </a:prstGeom>
          <a:solidFill>
            <a:srgbClr val="2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0" y="50292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FB0D4"/>
                </a:solidFill>
                <a:latin typeface="Consolas"/>
                <a:ea typeface="Consola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5303520" cy="448056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C3F7"/>
                </a:solidFill>
                <a:latin typeface="Microsoft YaHei"/>
                <a:ea typeface="Microsoft YaHei"/>
              </a:rPr>
              <a:t>reports 惰性生成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4F5"/>
                </a:solidFill>
                <a:latin typeface="Microsoft YaHei"/>
                <a:ea typeface="Microsoft YaHei"/>
              </a:rPr>
              <a:t>get_report: 校验归属(403)+终态(409) → 报告缺失则生成 → 已存在直接返回（幂等）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832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B74D"/>
                </a:solidFill>
                <a:latin typeface="Microsoft YaHei"/>
                <a:ea typeface="Microsoft YaHei"/>
              </a:rPr>
              <a:t>关键设计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886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· 报告只存总体评价 + 改进建议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886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· 逐题点评取自 InterviewRecord 不冗余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886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· 惰性生成避免反向依赖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86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· finished 报告仅含已作答题目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645920"/>
            <a:ext cx="5029200" cy="4480560"/>
          </a:xfrm>
          <a:prstGeom prst="roundRect">
            <a:avLst/>
          </a:prstGeom>
          <a:solidFill>
            <a:srgbClr val="11294A"/>
          </a:solidFill>
          <a:ln w="12700">
            <a:solidFill>
              <a:srgbClr val="C9DF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828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C3F7"/>
                </a:solidFill>
                <a:latin typeface="Microsoft YaHei"/>
                <a:ea typeface="Microsoft YaHei"/>
              </a:rPr>
              <a:t>users Bearer 认证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3317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4F5"/>
                </a:solidFill>
                <a:latin typeface="Microsoft YaHei"/>
                <a:ea typeface="Microsoft YaHei"/>
              </a:rPr>
              <a:t>bcrypt.hashpw 哈希密码，绝不存明文
secrets.token_urlsafe 签发随机会话 token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4FC3F7"/>
                </a:solidFill>
                <a:latin typeface="Consolas"/>
                <a:ea typeface="Consolas"/>
              </a:rPr>
              <a:t>get_current_user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8404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4F5"/>
                </a:solidFill>
                <a:latin typeface="Microsoft YaHei"/>
                <a:ea typeface="Microsoft YaHei"/>
              </a:rPr>
              <a:t>解析 Authorization: Bearer token → 查会话 → 返回 user_id
缺失/非法 → 401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937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B74D"/>
                </a:solidFill>
                <a:latin typeface="Microsoft YaHei"/>
                <a:ea typeface="Microsoft YaHei"/>
              </a:rPr>
              <a:t>设计取舍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53949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FB0D4"/>
                </a:solidFill>
                <a:latin typeface="Microsoft YaHei"/>
                <a:ea typeface="Microsoft YaHei"/>
              </a:rPr>
              <a:t>PRD 原定匿名 X-Client-Id，演进为注册登录
以 user_id 替代 client_id 做归属隔离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C9DFF0"/>
                </a:solidFill>
                <a:latin typeface="Microsoft YaHei"/>
                <a:ea typeface="Microsoft YaHei"/>
              </a:rPr>
              <a:t>遇到的问题与解决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5240"/>
          </a:xfrm>
          <a:prstGeom prst="rect">
            <a:avLst/>
          </a:prstGeom>
          <a:solidFill>
            <a:srgbClr val="2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0" y="50292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FB0D4"/>
                </a:solidFill>
                <a:latin typeface="Consolas"/>
                <a:ea typeface="Consolas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45920"/>
            <a:ext cx="4846320" cy="1371600"/>
          </a:xfrm>
          <a:prstGeom prst="roundRect">
            <a:avLst/>
          </a:prstGeom>
          <a:solidFill>
            <a:srgbClr val="11294A"/>
          </a:solidFill>
          <a:ln w="19050">
            <a:solidFill>
              <a:srgbClr val="FF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74D"/>
                </a:solidFill>
                <a:latin typeface="Microsoft YaHei"/>
                <a:ea typeface="Microsoft YaHei"/>
              </a:rPr>
              <a:t>问题 1 · 匿名标识 vs 注册登录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1945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4F5"/>
                </a:solidFill>
                <a:latin typeface="Microsoft YaHei"/>
                <a:ea typeface="Microsoft YaHei"/>
              </a:rPr>
              <a:t>PRD 6.4 原定匿名 X-Client-Id，实现时演进为注册登录，计划书与代码产生分歧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645920"/>
            <a:ext cx="5394960" cy="1371600"/>
          </a:xfrm>
          <a:prstGeom prst="roundRect">
            <a:avLst/>
          </a:prstGeom>
          <a:solidFill>
            <a:srgbClr val="11294A"/>
          </a:solidFill>
          <a:ln w="1905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783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FC3F7"/>
                </a:solidFill>
                <a:latin typeface="Microsoft YaHei"/>
                <a:ea typeface="Microsoft YaHei"/>
              </a:rPr>
              <a:t>解决 · user_id 归属隔离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1945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4F5"/>
                </a:solidFill>
                <a:latin typeface="Microsoft YaHei"/>
                <a:ea typeface="Microsoft YaHei"/>
              </a:rPr>
              <a:t>以 Bearer token 解析出的 user_id 替代 client_id，会话/报告按 user_id 严格隔离，跨用户返回 403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46120"/>
            <a:ext cx="4846320" cy="1371600"/>
          </a:xfrm>
          <a:prstGeom prst="roundRect">
            <a:avLst/>
          </a:prstGeom>
          <a:solidFill>
            <a:srgbClr val="11294A"/>
          </a:solidFill>
          <a:ln w="19050">
            <a:solidFill>
              <a:srgbClr val="FF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38327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74D"/>
                </a:solidFill>
                <a:latin typeface="Microsoft YaHei"/>
                <a:ea typeface="Microsoft YaHei"/>
              </a:rPr>
              <a:t>问题 2 · 报告生成时序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794759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4F5"/>
                </a:solidFill>
                <a:latin typeface="Microsoft YaHei"/>
                <a:ea typeface="Microsoft YaHei"/>
              </a:rPr>
              <a:t>会话结束时同步生成报告会造成 interviews → reports 反向依赖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3246120"/>
            <a:ext cx="5394960" cy="1371600"/>
          </a:xfrm>
          <a:prstGeom prst="roundRect">
            <a:avLst/>
          </a:prstGeom>
          <a:solidFill>
            <a:srgbClr val="11294A"/>
          </a:solidFill>
          <a:ln w="1905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338327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FC3F7"/>
                </a:solidFill>
                <a:latin typeface="Microsoft YaHei"/>
                <a:ea typeface="Microsoft YaHei"/>
              </a:rPr>
              <a:t>解决 · 查询时惰性生成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794759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4F5"/>
                </a:solidFill>
                <a:latin typeface="Microsoft YaHei"/>
                <a:ea typeface="Microsoft YaHei"/>
              </a:rPr>
              <a:t>get_report 发现报告缺失才生成并落库，职责清晰、幂等（重复查询不重复生成）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846320"/>
            <a:ext cx="4846320" cy="1371600"/>
          </a:xfrm>
          <a:prstGeom prst="roundRect">
            <a:avLst/>
          </a:prstGeom>
          <a:solidFill>
            <a:srgbClr val="11294A"/>
          </a:solidFill>
          <a:ln w="19050">
            <a:solidFill>
              <a:srgbClr val="FF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983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74D"/>
                </a:solidFill>
                <a:latin typeface="Microsoft YaHei"/>
                <a:ea typeface="Microsoft YaHei"/>
              </a:rPr>
              <a:t>问题 3 · 前后端跨源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394959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4F5"/>
                </a:solidFill>
                <a:latin typeface="Microsoft YaHei"/>
                <a:ea typeface="Microsoft YaHei"/>
              </a:rPr>
              <a:t>前端 file:// 或跨端口访问被 CORS 拦截，前后端分离无法真正联动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4846320"/>
            <a:ext cx="5394960" cy="1371600"/>
          </a:xfrm>
          <a:prstGeom prst="roundRect">
            <a:avLst/>
          </a:prstGeom>
          <a:solidFill>
            <a:srgbClr val="11294A"/>
          </a:solidFill>
          <a:ln w="19050">
            <a:solidFill>
              <a:srgbClr val="4FC3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4983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FC3F7"/>
                </a:solidFill>
                <a:latin typeface="Microsoft YaHei"/>
                <a:ea typeface="Microsoft YaHei"/>
              </a:rPr>
              <a:t>解决 · 单服务同源联动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5394959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4F5"/>
                </a:solidFill>
                <a:latin typeface="Microsoft YaHei"/>
                <a:ea typeface="Microsoft YaHei"/>
              </a:rPr>
              <a:t>后端挂载前端静态文件，/api 路由优先，单服务同源 + CORS 兜底，一条命令即可演示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C9DFF0"/>
                </a:solidFill>
                <a:latin typeface="Microsoft YaHei"/>
                <a:ea typeface="Microsoft YaHei"/>
              </a:rPr>
              <a:t>项目收获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698480" cy="15240"/>
          </a:xfrm>
          <a:prstGeom prst="rect">
            <a:avLst/>
          </a:prstGeom>
          <a:solidFill>
            <a:srgbClr val="2A4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07040" y="50292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>
                <a:solidFill>
                  <a:srgbClr val="8FB0D4"/>
                </a:solidFill>
                <a:latin typeface="Consolas"/>
                <a:ea typeface="Consola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4FC3F7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6916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6E4F5"/>
                </a:solidFill>
                <a:latin typeface="Microsoft YaHei"/>
                <a:ea typeface="Microsoft YaHei"/>
              </a:rPr>
              <a:t>严格 TDD 落地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488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先写失败测试再实现，76 个 pytest 用例全绿，覆盖服务层与 API 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4FC3F7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6E4F5"/>
                </a:solidFill>
                <a:latin typeface="Microsoft YaHei"/>
                <a:ea typeface="Microsoft YaHei"/>
              </a:rPr>
              <a:t>严格分层架构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1089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router → service → repository 职责清晰，7 个模块各一个包，依赖单向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4FC3F7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611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6E4F5"/>
                </a:solidFill>
                <a:latin typeface="Microsoft YaHei"/>
                <a:ea typeface="Microsoft YaHei"/>
              </a:rPr>
              <a:t>面向接口设计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0690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engine 抽象 InterviewEngine，上层只依赖接口，可零改动替换真实大模型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5262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4FC3F7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5720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6E4F5"/>
                </a:solidFill>
                <a:latin typeface="Microsoft YaHei"/>
                <a:ea typeface="Microsoft YaHei"/>
              </a:rPr>
              <a:t>数据访问隔离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50292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repository 层隔离 SQLite，替换 PostgreSQL 仅需改数据访问层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48640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B74D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5321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6E4F5"/>
                </a:solidFill>
                <a:latin typeface="Microsoft YaHei"/>
                <a:ea typeface="Microsoft YaHei"/>
              </a:rPr>
              <a:t>前后端完整闭环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9893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FB0D4"/>
                </a:solidFill>
                <a:latin typeface="Microsoft YaHei"/>
                <a:ea typeface="Microsoft YaHei"/>
              </a:rPr>
              <a:t>单服务联动 + mock 测试 + 完整 API 文档与测试报告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C9DFF0"/>
                </a:solidFill>
                <a:latin typeface="Microsoft YaHei"/>
                <a:ea typeface="Microsoft YaHei"/>
              </a:rPr>
              <a:t>展望与结语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8FB0D4"/>
                </a:solidFill>
                <a:latin typeface="Microsoft YaHei"/>
                <a:ea typeface="Microsoft YaHei"/>
              </a:rPr>
              <a:t>MVP 已闭环，明确的下一个演进方向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30175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FC3F7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301752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6E4F5"/>
                </a:solidFill>
                <a:latin typeface="Microsoft YaHei"/>
                <a:ea typeface="Microsoft YaHei"/>
              </a:rPr>
              <a:t>接入真实大模型：LLMEngine 替换 RuleBasedEngine，上层零改动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35661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FC3F7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35661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6E4F5"/>
                </a:solidFill>
                <a:latin typeface="Microsoft YaHei"/>
                <a:ea typeface="Microsoft YaHei"/>
              </a:rPr>
              <a:t>语音面试：语音识别 + 语音合成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114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FC3F7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41148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6E4F5"/>
                </a:solidFill>
                <a:latin typeface="Microsoft YaHei"/>
                <a:ea typeface="Microsoft YaHei"/>
              </a:rPr>
              <a:t>动态追问与多轮深入对话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46634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4FC3F7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466344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6E4F5"/>
                </a:solidFill>
                <a:latin typeface="Microsoft YaHei"/>
                <a:ea typeface="Microsoft YaHei"/>
              </a:rPr>
              <a:t>用户账号跨设备同步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5212079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B74D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521207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D6E4F5"/>
                </a:solidFill>
                <a:latin typeface="Microsoft YaHei"/>
                <a:ea typeface="Microsoft YaHei"/>
              </a:rPr>
              <a:t>面试评分（分维度量化）与成长曲线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60350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FB0D4"/>
                </a:solidFill>
                <a:latin typeface="Microsoft YaHei"/>
                <a:ea typeface="Microsoft YaHei"/>
              </a:rPr>
              <a:t>感谢观看 · 欢迎交流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